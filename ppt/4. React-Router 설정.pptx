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5" r:id="rId9"/>
    <p:sldId id="264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8325666-3334-4722-8C9F-373C48ACE10E}">
          <p14:sldIdLst>
            <p14:sldId id="256"/>
          </p14:sldIdLst>
        </p14:section>
        <p14:section name="ch2 프로젝트 셋팅" id="{6D1983BC-C674-4BDC-B3E2-A72D4B84A64B}">
          <p14:sldIdLst>
            <p14:sldId id="257"/>
            <p14:sldId id="259"/>
            <p14:sldId id="260"/>
            <p14:sldId id="261"/>
            <p14:sldId id="258"/>
            <p14:sldId id="262"/>
          </p14:sldIdLst>
        </p14:section>
        <p14:section name="React란" id="{F2BCC041-2433-4CD2-AA13-1F668B82EA4A}">
          <p14:sldIdLst>
            <p14:sldId id="265"/>
          </p14:sldIdLst>
        </p14:section>
        <p14:section name="main.tsx 살펴보기" id="{B596D572-0830-4E4E-9854-78D204982DF9}">
          <p14:sldIdLst>
            <p14:sldId id="264"/>
          </p14:sldIdLst>
        </p14:section>
        <p14:section name="Router(root.tsx)파일 살펴보기" id="{31EE408F-D98C-4097-9465-DEFDE086BEF4}">
          <p14:sldIdLst>
            <p14:sldId id="263"/>
          </p14:sldIdLst>
        </p14:section>
        <p14:section name="컴포넌트 사이의 이동(Link,NavLink)" id="{63BA64E3-A205-44A6-81CB-A436973DFDA7}">
          <p14:sldIdLst>
            <p14:sldId id="266"/>
          </p14:sldIdLst>
        </p14:section>
        <p14:section name="Page React Component 작성하기" id="{B0E4B899-03D1-4C2E-9425-33B20517261B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8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33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53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25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20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0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45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62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39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968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815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9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80CCDF4-C310-479B-BFF8-E60D4E88EA02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96CD811-6BBE-4C39-9BBC-E00F32748E7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15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9A09D-5CEE-FC7B-9169-56877C2468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React-Router </a:t>
            </a:r>
            <a:r>
              <a:rPr lang="ko-KR" altLang="en-US"/>
              <a:t>실행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86556D-DFE6-27B6-9B77-131902CBDD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10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FFA0A-526B-B3E8-8BE4-D50CBA28A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ch2 </a:t>
            </a:r>
            <a:r>
              <a:rPr lang="ko-KR" altLang="en-US"/>
              <a:t>프로젝트 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F43C9-F5B7-896B-8FB9-F70475E3E3DA}"/>
              </a:ext>
            </a:extLst>
          </p:cNvPr>
          <p:cNvSpPr txBox="1"/>
          <p:nvPr/>
        </p:nvSpPr>
        <p:spPr>
          <a:xfrm>
            <a:off x="1163782" y="1837113"/>
            <a:ext cx="1005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npm</a:t>
            </a:r>
            <a:r>
              <a:rPr lang="ko-KR" altLang="en-US"/>
              <a:t> </a:t>
            </a:r>
            <a:r>
              <a:rPr lang="en-US" altLang="ko-KR"/>
              <a:t>create</a:t>
            </a:r>
            <a:r>
              <a:rPr lang="ko-KR" altLang="en-US"/>
              <a:t> </a:t>
            </a:r>
            <a:r>
              <a:rPr lang="en-US" altLang="ko-KR"/>
              <a:t>vite@latest</a:t>
            </a:r>
          </a:p>
          <a:p>
            <a:endParaRPr lang="en-US" altLang="ko-KR"/>
          </a:p>
          <a:p>
            <a:r>
              <a:rPr lang="en-US" altLang="ko-KR"/>
              <a:t>ch1 </a:t>
            </a:r>
          </a:p>
          <a:p>
            <a:r>
              <a:rPr lang="en-US" altLang="ko-KR"/>
              <a:t>React</a:t>
            </a:r>
          </a:p>
          <a:p>
            <a:r>
              <a:rPr lang="en-US" altLang="ko-KR"/>
              <a:t>Typescript</a:t>
            </a:r>
          </a:p>
          <a:p>
            <a:r>
              <a:rPr lang="en-US" altLang="ko-KR"/>
              <a:t>ESLint</a:t>
            </a:r>
          </a:p>
          <a:p>
            <a:r>
              <a:rPr lang="en-US" altLang="ko-KR"/>
              <a:t>Yes</a:t>
            </a:r>
          </a:p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9C436A-1CEE-46FA-19DF-885646920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533" y="1837113"/>
            <a:ext cx="7011378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77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35061-03CE-17F1-0693-372CBA37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tailwindcss </a:t>
            </a:r>
            <a:r>
              <a:rPr lang="ko-KR" altLang="en-US"/>
              <a:t>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9988ED-14CE-72C5-A7BB-1B661E27636E}"/>
              </a:ext>
            </a:extLst>
          </p:cNvPr>
          <p:cNvSpPr txBox="1"/>
          <p:nvPr/>
        </p:nvSpPr>
        <p:spPr>
          <a:xfrm>
            <a:off x="1097280" y="185610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/>
              <a:t> npm install tailwindcss @tailwindcss/vite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1DFC78-4906-3A81-F543-D1EFF542C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44190"/>
            <a:ext cx="531569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4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3BE40-F664-5A96-4BF7-3F4BCB0D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index.css</a:t>
            </a:r>
            <a:r>
              <a:rPr lang="ko-KR" altLang="en-US"/>
              <a:t>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E1F0AC-D1CB-5DAD-F100-FC77CD7CA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182" y="1936710"/>
            <a:ext cx="2581635" cy="571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BBF9CD7-D8EF-4D86-B836-6BA52C0B2979}"/>
              </a:ext>
            </a:extLst>
          </p:cNvPr>
          <p:cNvGrpSpPr/>
          <p:nvPr/>
        </p:nvGrpSpPr>
        <p:grpSpPr>
          <a:xfrm>
            <a:off x="1255641" y="1936710"/>
            <a:ext cx="1639959" cy="1731919"/>
            <a:chOff x="1255641" y="1936710"/>
            <a:chExt cx="1639959" cy="173191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F64457-F595-5B40-12E4-1955FE857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5641" y="1936710"/>
              <a:ext cx="1639959" cy="1731919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85B9E1A-45E2-6BCE-D2B0-E723F7ABAC05}"/>
                </a:ext>
              </a:extLst>
            </p:cNvPr>
            <p:cNvSpPr/>
            <p:nvPr/>
          </p:nvSpPr>
          <p:spPr>
            <a:xfrm>
              <a:off x="1346200" y="3302000"/>
              <a:ext cx="1282700" cy="3666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288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BF4B2-D0CC-0B12-CF6D-DE23F096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vite.config.ts</a:t>
            </a:r>
            <a:r>
              <a:rPr lang="ko-KR" altLang="en-US"/>
              <a:t>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984CAF-64CF-25A3-4E6A-F2430D31D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939" y="1974698"/>
            <a:ext cx="3915321" cy="217200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D25EF899-9DDF-B75A-555C-8C389BD18230}"/>
              </a:ext>
            </a:extLst>
          </p:cNvPr>
          <p:cNvGrpSpPr/>
          <p:nvPr/>
        </p:nvGrpSpPr>
        <p:grpSpPr>
          <a:xfrm>
            <a:off x="1148080" y="1974698"/>
            <a:ext cx="1686160" cy="4496427"/>
            <a:chOff x="1148080" y="1974698"/>
            <a:chExt cx="1686160" cy="449642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B392810-86B4-47A1-C711-2DE6E4A0C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8080" y="1974698"/>
              <a:ext cx="1686160" cy="449642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708E81-7BB1-A6D0-6743-5D0DF58253FC}"/>
                </a:ext>
              </a:extLst>
            </p:cNvPr>
            <p:cNvSpPr/>
            <p:nvPr/>
          </p:nvSpPr>
          <p:spPr>
            <a:xfrm>
              <a:off x="1244600" y="6197600"/>
              <a:ext cx="965200" cy="2735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5050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E5838-FE85-BAA3-D47C-EC03FEA13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React-Router </a:t>
            </a:r>
            <a:r>
              <a:rPr lang="ko-KR" altLang="en-US"/>
              <a:t>설치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081253-75E7-5FC9-8EFA-860923651737}"/>
              </a:ext>
            </a:extLst>
          </p:cNvPr>
          <p:cNvSpPr txBox="1"/>
          <p:nvPr/>
        </p:nvSpPr>
        <p:spPr>
          <a:xfrm>
            <a:off x="1230284" y="1862051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npm i react-router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E319B1-42DE-2759-300F-A2892F97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84" y="2231383"/>
            <a:ext cx="3867690" cy="25149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B4F4A4-EBD7-2F59-D1BA-12556EE26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934" y="2231383"/>
            <a:ext cx="6812071" cy="3645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72823E-7FD9-8A14-7D2A-E5214E941A06}"/>
              </a:ext>
            </a:extLst>
          </p:cNvPr>
          <p:cNvSpPr txBox="1"/>
          <p:nvPr/>
        </p:nvSpPr>
        <p:spPr>
          <a:xfrm>
            <a:off x="1230284" y="4860099"/>
            <a:ext cx="3780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강의에서는 </a:t>
            </a:r>
            <a:r>
              <a:rPr lang="en-US" altLang="ko-KR" sz="1200"/>
              <a:t>Data</a:t>
            </a:r>
            <a:r>
              <a:rPr lang="ko-KR" altLang="en-US" sz="1200"/>
              <a:t>모드 사용 예정</a:t>
            </a:r>
            <a:br>
              <a:rPr lang="en-US" altLang="ko-KR" sz="1200"/>
            </a:br>
            <a:r>
              <a:rPr lang="ko-KR" altLang="en-US" sz="1200"/>
              <a:t>프레임워크 모드에선 </a:t>
            </a:r>
            <a:r>
              <a:rPr lang="en-US" altLang="ko-KR" sz="1200"/>
              <a:t>strict </a:t>
            </a:r>
            <a:r>
              <a:rPr lang="ko-KR" altLang="en-US" sz="1200"/>
              <a:t>모드 해제가 어려움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React </a:t>
            </a:r>
            <a:r>
              <a:rPr lang="ko-KR" altLang="en-US" sz="1200"/>
              <a:t>쿼리 설정도 복잡하다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58142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D2713-96EB-D71A-4C26-E4A998E5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의존성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5FECBA-A99F-4E15-7B75-C900AB6D7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1922507"/>
            <a:ext cx="3086531" cy="1343212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DFE9E32C-5373-BC65-24D3-41A5D61AAF57}"/>
              </a:ext>
            </a:extLst>
          </p:cNvPr>
          <p:cNvGrpSpPr/>
          <p:nvPr/>
        </p:nvGrpSpPr>
        <p:grpSpPr>
          <a:xfrm>
            <a:off x="1097280" y="1922507"/>
            <a:ext cx="1733792" cy="3467584"/>
            <a:chOff x="1541686" y="2011959"/>
            <a:chExt cx="1733792" cy="346758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57A81A8-C012-F282-EA6F-B9411E97B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1686" y="2011959"/>
              <a:ext cx="1733792" cy="346758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3988EE5-8F4D-B8CD-E9C5-7502BC7692B1}"/>
                </a:ext>
              </a:extLst>
            </p:cNvPr>
            <p:cNvSpPr/>
            <p:nvPr/>
          </p:nvSpPr>
          <p:spPr>
            <a:xfrm>
              <a:off x="1541686" y="5247861"/>
              <a:ext cx="1430114" cy="2316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064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FE30D-E4BE-D5E0-5E1D-71774C01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React </a:t>
            </a:r>
            <a:r>
              <a:rPr lang="ko-KR" altLang="en-US"/>
              <a:t>개념 알기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8481D-6F84-18CD-AD94-20A5B6A3EA65}"/>
              </a:ext>
            </a:extLst>
          </p:cNvPr>
          <p:cNvSpPr txBox="1"/>
          <p:nvPr/>
        </p:nvSpPr>
        <p:spPr>
          <a:xfrm>
            <a:off x="1097280" y="2136339"/>
            <a:ext cx="1005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/>
              <a:t>※ react</a:t>
            </a:r>
            <a:r>
              <a:rPr lang="ko-KR" altLang="en-US" sz="1800"/>
              <a:t>는 </a:t>
            </a:r>
            <a:r>
              <a:rPr lang="en-US" altLang="ko-KR" sz="1800"/>
              <a:t>SPA(Single Page Application) </a:t>
            </a:r>
            <a:r>
              <a:rPr lang="ko-KR" altLang="en-US" sz="1800"/>
              <a:t>으로 </a:t>
            </a:r>
            <a:r>
              <a:rPr lang="en-US" altLang="ko-KR" sz="1800"/>
              <a:t>index.html </a:t>
            </a:r>
            <a:r>
              <a:rPr lang="ko-KR" altLang="en-US" sz="1800"/>
              <a:t>페이지 하나만을 가지고 페이지를 랜더링한다</a:t>
            </a:r>
            <a:r>
              <a:rPr lang="en-US" altLang="ko-KR" sz="1800"/>
              <a:t>.</a:t>
            </a:r>
          </a:p>
          <a:p>
            <a:endParaRPr lang="en-US" altLang="ko-KR" sz="1800"/>
          </a:p>
          <a:p>
            <a:r>
              <a:rPr lang="en-US" altLang="ko-KR" sz="1800"/>
              <a:t>url</a:t>
            </a:r>
            <a:r>
              <a:rPr lang="ko-KR" altLang="en-US" sz="1800"/>
              <a:t> 주소의 링크를 클릭하면</a:t>
            </a:r>
            <a:r>
              <a:rPr lang="en-US" altLang="ko-KR" sz="1800"/>
              <a:t>, </a:t>
            </a:r>
            <a:r>
              <a:rPr lang="ko-KR" altLang="en-US" sz="1800"/>
              <a:t>서버에 새페이지를 요청하는게 아니라 브라우저 주소창의 </a:t>
            </a:r>
            <a:r>
              <a:rPr lang="en-US" altLang="ko-KR" sz="1800"/>
              <a:t>URL</a:t>
            </a:r>
            <a:r>
              <a:rPr lang="ko-KR" altLang="en-US" sz="1800"/>
              <a:t>만 바꾸고 그에 맞는 컴포넌트를 화면에 새로 그려넣는 것이 </a:t>
            </a:r>
            <a:r>
              <a:rPr lang="en-US" altLang="ko-KR" sz="1800"/>
              <a:t>React</a:t>
            </a:r>
            <a:r>
              <a:rPr lang="ko-KR" altLang="en-US" sz="1800"/>
              <a:t> 기술이라고 할 수 있다</a:t>
            </a:r>
            <a:r>
              <a:rPr lang="en-US" altLang="ko-KR" sz="1800"/>
              <a:t>.</a:t>
            </a:r>
          </a:p>
          <a:p>
            <a:endParaRPr lang="en-US" altLang="ko-KR" sz="1800"/>
          </a:p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865968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13B7E-5C39-3433-6193-F3E3828A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React</a:t>
            </a:r>
            <a:r>
              <a:rPr lang="ko-KR" altLang="en-US"/>
              <a:t>의 시작 </a:t>
            </a:r>
            <a:r>
              <a:rPr lang="en-US" altLang="ko-KR"/>
              <a:t>main.tsx</a:t>
            </a:r>
            <a:r>
              <a:rPr lang="ko-KR" altLang="en-US"/>
              <a:t> 살펴보기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E3B3E7-46AE-356C-AFD0-8E4718F8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929" y="4132178"/>
            <a:ext cx="4362793" cy="26548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E2C7087-CC1A-302B-1D68-8B27FF7E1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929" y="1914494"/>
            <a:ext cx="4790175" cy="205816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B55F6B08-CEFE-9468-5CE0-0912A2182EE3}"/>
              </a:ext>
            </a:extLst>
          </p:cNvPr>
          <p:cNvGrpSpPr/>
          <p:nvPr/>
        </p:nvGrpSpPr>
        <p:grpSpPr>
          <a:xfrm>
            <a:off x="803102" y="1916490"/>
            <a:ext cx="1728064" cy="4888181"/>
            <a:chOff x="862737" y="2002907"/>
            <a:chExt cx="1728064" cy="488818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7204593-A305-1416-405E-960F0AE8D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2737" y="2002907"/>
              <a:ext cx="1728064" cy="4888181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B77E23E-46F0-D687-EDB5-053A18CDC894}"/>
                </a:ext>
              </a:extLst>
            </p:cNvPr>
            <p:cNvSpPr/>
            <p:nvPr/>
          </p:nvSpPr>
          <p:spPr>
            <a:xfrm>
              <a:off x="862737" y="5446643"/>
              <a:ext cx="836854" cy="1987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ED470E1-38D7-0168-8E4A-75416D68E9E5}"/>
                </a:ext>
              </a:extLst>
            </p:cNvPr>
            <p:cNvSpPr/>
            <p:nvPr/>
          </p:nvSpPr>
          <p:spPr>
            <a:xfrm>
              <a:off x="870037" y="4942557"/>
              <a:ext cx="836854" cy="1987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20657B7-DBFA-7DAD-F429-AF4A0624BD54}"/>
              </a:ext>
            </a:extLst>
          </p:cNvPr>
          <p:cNvSpPr txBox="1"/>
          <p:nvPr/>
        </p:nvSpPr>
        <p:spPr>
          <a:xfrm>
            <a:off x="7663070" y="1914494"/>
            <a:ext cx="441297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React</a:t>
            </a:r>
            <a:r>
              <a:rPr lang="ko-KR" altLang="en-US" sz="1400"/>
              <a:t>는 </a:t>
            </a:r>
            <a:r>
              <a:rPr lang="en-US" altLang="ko-KR" sz="1400"/>
              <a:t>SPA </a:t>
            </a:r>
            <a:r>
              <a:rPr lang="ko-KR" altLang="en-US" sz="1400"/>
              <a:t>로 </a:t>
            </a:r>
            <a:r>
              <a:rPr lang="en-US" altLang="ko-KR" sz="1400"/>
              <a:t>index.html </a:t>
            </a:r>
            <a:r>
              <a:rPr lang="ko-KR" altLang="en-US" sz="1400"/>
              <a:t>페이지에내 컴포넌트들만 갈아끼워 랜더링하는 형식의  </a:t>
            </a:r>
            <a:r>
              <a:rPr lang="en-US" altLang="ko-KR" sz="1400"/>
              <a:t>Front-End </a:t>
            </a:r>
            <a:r>
              <a:rPr lang="ko-KR" altLang="en-US" sz="1400"/>
              <a:t>기술임을 설명했다</a:t>
            </a:r>
            <a:r>
              <a:rPr lang="en-US" altLang="ko-KR" sz="1400"/>
              <a:t>.</a:t>
            </a:r>
            <a:br>
              <a:rPr lang="en-US" altLang="ko-KR" sz="1400"/>
            </a:br>
            <a:br>
              <a:rPr lang="en-US" altLang="ko-KR" sz="1400"/>
            </a:br>
            <a:r>
              <a:rPr lang="en-US" altLang="ko-KR" sz="1400"/>
              <a:t>main.tsx</a:t>
            </a:r>
            <a:r>
              <a:rPr lang="ko-KR" altLang="en-US" sz="1400"/>
              <a:t>는 기본이 되는 </a:t>
            </a:r>
            <a:r>
              <a:rPr lang="en-US" altLang="ko-KR" sz="1400"/>
              <a:t>index.html</a:t>
            </a:r>
            <a:r>
              <a:rPr lang="ko-KR" altLang="en-US" sz="1400"/>
              <a:t>에서 </a:t>
            </a:r>
            <a:r>
              <a:rPr lang="en-US" altLang="ko-KR" sz="1400"/>
              <a:t>Id</a:t>
            </a:r>
            <a:r>
              <a:rPr lang="ko-KR" altLang="en-US" sz="1400"/>
              <a:t>가 </a:t>
            </a:r>
            <a:r>
              <a:rPr lang="en-US" altLang="ko-KR" sz="1400"/>
              <a:t>root</a:t>
            </a:r>
            <a:r>
              <a:rPr lang="ko-KR" altLang="en-US" sz="1400"/>
              <a:t>인 </a:t>
            </a:r>
            <a:r>
              <a:rPr lang="en-US" altLang="ko-KR" sz="1400"/>
              <a:t>div</a:t>
            </a:r>
            <a:r>
              <a:rPr lang="ko-KR" altLang="en-US" sz="1400"/>
              <a:t>를 </a:t>
            </a:r>
            <a:r>
              <a:rPr lang="en-US" altLang="ko-KR" sz="1400"/>
              <a:t>react </a:t>
            </a:r>
            <a:r>
              <a:rPr lang="ko-KR" altLang="en-US" sz="1400"/>
              <a:t>컴포넌트를 랜더링해서 채워넣는 진입점으로 설정하는 코드이다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(createRoot </a:t>
            </a:r>
            <a:r>
              <a:rPr lang="ko-KR" altLang="en-US" sz="1400"/>
              <a:t>함수</a:t>
            </a:r>
            <a:r>
              <a:rPr lang="en-US" altLang="ko-KR" sz="1400"/>
              <a:t>)</a:t>
            </a:r>
          </a:p>
          <a:p>
            <a:endParaRPr lang="en-US" altLang="ko-KR" sz="1400"/>
          </a:p>
          <a:p>
            <a:r>
              <a:rPr lang="en-US" altLang="ko-KR" sz="1400"/>
              <a:t>RouterProvider</a:t>
            </a:r>
            <a:r>
              <a:rPr lang="ko-KR" altLang="en-US" sz="1400"/>
              <a:t>는 </a:t>
            </a:r>
            <a:r>
              <a:rPr lang="en-US" altLang="ko-KR" sz="1400"/>
              <a:t>router </a:t>
            </a:r>
            <a:r>
              <a:rPr lang="ko-KR" altLang="en-US" sz="1400"/>
              <a:t>파일을 </a:t>
            </a:r>
            <a:r>
              <a:rPr lang="en-US" altLang="ko-KR" sz="1400"/>
              <a:t>main.tsx </a:t>
            </a:r>
            <a:r>
              <a:rPr lang="ko-KR" altLang="en-US" sz="1400"/>
              <a:t>에 알리는 역할을 한다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663995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EBB85-4131-1525-0BB8-00EB94022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router </a:t>
            </a:r>
            <a:r>
              <a:rPr lang="ko-KR" altLang="en-US"/>
              <a:t>파일의 역할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9743C-C373-FB79-3D71-A0043CC0FA6B}"/>
              </a:ext>
            </a:extLst>
          </p:cNvPr>
          <p:cNvSpPr txBox="1"/>
          <p:nvPr/>
        </p:nvSpPr>
        <p:spPr>
          <a:xfrm>
            <a:off x="1097280" y="1858617"/>
            <a:ext cx="10849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  <a:r>
              <a:rPr lang="en-US" altLang="ko-KR"/>
              <a:t>react component</a:t>
            </a:r>
            <a:r>
              <a:rPr lang="ko-KR" altLang="en-US"/>
              <a:t>에서 </a:t>
            </a:r>
            <a:r>
              <a:rPr lang="ko-KR" altLang="en-US" b="1">
                <a:solidFill>
                  <a:srgbClr val="FF0000"/>
                </a:solidFill>
              </a:rPr>
              <a:t>정의한 링크에 해당하는 랜더링 컴포넌트 정보를 모아둔 파일</a:t>
            </a:r>
            <a:r>
              <a:rPr lang="ko-KR" altLang="en-US"/>
              <a:t>이라고 볼 수 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 b="1"/>
              <a:t>(</a:t>
            </a:r>
            <a:r>
              <a:rPr lang="ko-KR" altLang="en-US" b="1"/>
              <a:t>각 </a:t>
            </a:r>
            <a:r>
              <a:rPr lang="en-US" altLang="ko-KR" b="1"/>
              <a:t>react </a:t>
            </a:r>
            <a:r>
              <a:rPr lang="ko-KR" altLang="en-US" b="1"/>
              <a:t>컴포넌트 사이의 </a:t>
            </a:r>
            <a:r>
              <a:rPr lang="en-US" altLang="ko-KR" b="1"/>
              <a:t>hub </a:t>
            </a:r>
            <a:r>
              <a:rPr lang="ko-KR" altLang="en-US" b="1"/>
              <a:t>역할을 한다고 볼수 있다</a:t>
            </a:r>
            <a:r>
              <a:rPr lang="en-US" altLang="ko-KR" b="1"/>
              <a:t>. </a:t>
            </a:r>
            <a:r>
              <a:rPr lang="en-US" altLang="ko-KR" b="1">
                <a:sym typeface="Wingdings" panose="05000000000000000000" pitchFamily="2" charset="2"/>
              </a:rPr>
              <a:t> django</a:t>
            </a:r>
            <a:r>
              <a:rPr lang="ko-KR" altLang="en-US" b="1">
                <a:sym typeface="Wingdings" panose="05000000000000000000" pitchFamily="2" charset="2"/>
              </a:rPr>
              <a:t>로 치면 </a:t>
            </a:r>
            <a:r>
              <a:rPr lang="en-US" altLang="ko-KR" b="1">
                <a:sym typeface="Wingdings" panose="05000000000000000000" pitchFamily="2" charset="2"/>
              </a:rPr>
              <a:t>urls.py</a:t>
            </a:r>
            <a:r>
              <a:rPr lang="en-US" altLang="ko-KR" b="1"/>
              <a:t>)</a:t>
            </a:r>
            <a:endParaRPr lang="ko-KR" altLang="en-US" b="1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1A80FF-C2BE-4F19-374D-C9D63C23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16" y="2749772"/>
            <a:ext cx="5792008" cy="3743847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6987D05A-CE63-F205-4DEC-E561B4EA67DF}"/>
              </a:ext>
            </a:extLst>
          </p:cNvPr>
          <p:cNvGrpSpPr/>
          <p:nvPr/>
        </p:nvGrpSpPr>
        <p:grpSpPr>
          <a:xfrm>
            <a:off x="734552" y="2749772"/>
            <a:ext cx="1638529" cy="2619741"/>
            <a:chOff x="734552" y="2749772"/>
            <a:chExt cx="1638529" cy="261974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32EF16D-6B53-80F4-8D17-C6B80BAAE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4552" y="2749772"/>
              <a:ext cx="1638529" cy="261974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4C4A7E8-BA93-E5A6-FF6A-2E94971150B5}"/>
                </a:ext>
              </a:extLst>
            </p:cNvPr>
            <p:cNvSpPr/>
            <p:nvPr/>
          </p:nvSpPr>
          <p:spPr>
            <a:xfrm>
              <a:off x="834887" y="4880113"/>
              <a:ext cx="993913" cy="4894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4744794-25E2-1292-57B8-5E76E7F1421F}"/>
              </a:ext>
            </a:extLst>
          </p:cNvPr>
          <p:cNvSpPr txBox="1"/>
          <p:nvPr/>
        </p:nvSpPr>
        <p:spPr>
          <a:xfrm>
            <a:off x="8265424" y="2749772"/>
            <a:ext cx="3760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React Component </a:t>
            </a:r>
            <a:r>
              <a:rPr lang="ko-KR" altLang="en-US" sz="1200"/>
              <a:t>상수는 첫 문자를 대문자로 정의한다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Suspense fallback </a:t>
            </a:r>
            <a:r>
              <a:rPr lang="ko-KR" altLang="en-US" sz="1200"/>
              <a:t>역할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필요 시점 전까진 </a:t>
            </a:r>
            <a:r>
              <a:rPr lang="en-US" altLang="ko-KR" sz="1200">
                <a:sym typeface="Wingdings" panose="05000000000000000000" pitchFamily="2" charset="2"/>
              </a:rPr>
              <a:t>Loding page </a:t>
            </a:r>
            <a:r>
              <a:rPr lang="ko-KR" altLang="en-US" sz="1200">
                <a:sym typeface="Wingdings" panose="05000000000000000000" pitchFamily="2" charset="2"/>
              </a:rPr>
              <a:t>적용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ko-KR" altLang="en-US" sz="1200">
                <a:sym typeface="Wingdings" panose="05000000000000000000" pitchFamily="2" charset="2"/>
              </a:rPr>
              <a:t>필요시점 이후 </a:t>
            </a:r>
            <a:r>
              <a:rPr lang="en-US" altLang="ko-KR" sz="1200">
                <a:sym typeface="Wingdings" panose="05000000000000000000" pitchFamily="2" charset="2"/>
              </a:rPr>
              <a:t>Suspense </a:t>
            </a:r>
            <a:r>
              <a:rPr lang="ko-KR" altLang="en-US" sz="1200">
                <a:sym typeface="Wingdings" panose="05000000000000000000" pitchFamily="2" charset="2"/>
              </a:rPr>
              <a:t>태그 사이의 </a:t>
            </a:r>
            <a:r>
              <a:rPr lang="en-US" altLang="ko-KR" sz="1200">
                <a:sym typeface="Wingdings" panose="05000000000000000000" pitchFamily="2" charset="2"/>
              </a:rPr>
              <a:t>React </a:t>
            </a:r>
            <a:r>
              <a:rPr lang="ko-KR" altLang="en-US" sz="1200">
                <a:sym typeface="Wingdings" panose="05000000000000000000" pitchFamily="2" charset="2"/>
              </a:rPr>
              <a:t>컴포넌트 페이지 랜더링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 b="1">
                <a:sym typeface="Wingdings" panose="05000000000000000000" pitchFamily="2" charset="2"/>
              </a:rPr>
              <a:t>Suspense - lazy</a:t>
            </a:r>
            <a:r>
              <a:rPr lang="ko-KR" altLang="en-US" sz="1200" b="1">
                <a:sym typeface="Wingdings" panose="05000000000000000000" pitchFamily="2" charset="2"/>
              </a:rPr>
              <a:t> 를 사용하는 이유 </a:t>
            </a:r>
            <a:r>
              <a:rPr lang="en-US" altLang="ko-KR" sz="1200" b="1">
                <a:sym typeface="Wingdings" panose="05000000000000000000" pitchFamily="2" charset="2"/>
              </a:rPr>
              <a:t>: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SPA </a:t>
            </a:r>
            <a:r>
              <a:rPr lang="ko-KR" altLang="en-US" sz="1200">
                <a:sym typeface="Wingdings" panose="05000000000000000000" pitchFamily="2" charset="2"/>
              </a:rPr>
              <a:t>리액트 애플리케이션의 단점인 초기 실행 시간이 오래걸리기 때문에</a:t>
            </a:r>
            <a:r>
              <a:rPr lang="en-US" altLang="ko-KR" sz="1200">
                <a:sym typeface="Wingdings" panose="05000000000000000000" pitchFamily="2" charset="2"/>
              </a:rPr>
              <a:t>, </a:t>
            </a:r>
            <a:r>
              <a:rPr lang="ko-KR" altLang="en-US" sz="1200">
                <a:sym typeface="Wingdings" panose="05000000000000000000" pitchFamily="2" charset="2"/>
              </a:rPr>
              <a:t>분할 로딩을 통해 페이지를 가져오는 중인것을 알림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07869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7932F-C135-44EA-FBED-D68793CE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브라우저 이동을 처리를 위한 링크</a:t>
            </a:r>
            <a:r>
              <a:rPr lang="en-US" altLang="ko-KR" sz="3600"/>
              <a:t>(Link, NavLink)</a:t>
            </a:r>
            <a:endParaRPr lang="ko-KR" altLang="en-US" sz="36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F9C53F-9D30-17A2-C44A-07B3ACC59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0268"/>
            <a:ext cx="4090946" cy="26614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12E697D-572E-B266-E59C-A8236FBC4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252" y="1910268"/>
            <a:ext cx="3281047" cy="47218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49FBD6-1CA6-57E8-4330-E22F79355862}"/>
              </a:ext>
            </a:extLst>
          </p:cNvPr>
          <p:cNvSpPr txBox="1"/>
          <p:nvPr/>
        </p:nvSpPr>
        <p:spPr>
          <a:xfrm>
            <a:off x="8726557" y="1910268"/>
            <a:ext cx="346544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Link</a:t>
            </a:r>
            <a:r>
              <a:rPr lang="ko-KR" altLang="en-US" sz="1400"/>
              <a:t>와 </a:t>
            </a:r>
            <a:r>
              <a:rPr lang="en-US" altLang="ko-KR" sz="1400"/>
              <a:t>NavLink</a:t>
            </a:r>
            <a:r>
              <a:rPr lang="ko-KR" altLang="en-US" sz="1400"/>
              <a:t>의 역할</a:t>
            </a:r>
            <a:r>
              <a:rPr lang="en-US" altLang="ko-KR" sz="1400"/>
              <a:t> (</a:t>
            </a:r>
            <a:r>
              <a:rPr lang="ko-KR" altLang="en-US" sz="1400"/>
              <a:t>페이지 이동에 대한 이벤트를 정의</a:t>
            </a:r>
            <a:r>
              <a:rPr lang="en-US" altLang="ko-KR" sz="1400"/>
              <a:t>) </a:t>
            </a:r>
            <a:r>
              <a:rPr lang="ko-KR" altLang="en-US" sz="1400"/>
              <a:t>은 동일하다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★ 물론 </a:t>
            </a:r>
            <a:r>
              <a:rPr lang="en-US" altLang="ko-KR" sz="1400"/>
              <a:t>Single</a:t>
            </a:r>
            <a:r>
              <a:rPr lang="ko-KR" altLang="en-US" sz="1400"/>
              <a:t> </a:t>
            </a:r>
            <a:r>
              <a:rPr lang="en-US" altLang="ko-KR" sz="1400"/>
              <a:t>Page</a:t>
            </a:r>
            <a:r>
              <a:rPr lang="ko-KR" altLang="en-US" sz="1400"/>
              <a:t> </a:t>
            </a:r>
            <a:r>
              <a:rPr lang="en-US" altLang="ko-KR" sz="1400"/>
              <a:t>Application</a:t>
            </a:r>
            <a:r>
              <a:rPr lang="ko-KR" altLang="en-US" sz="1400"/>
              <a:t> 특성상</a:t>
            </a:r>
            <a:br>
              <a:rPr lang="en-US" altLang="ko-KR" sz="1400"/>
            </a:br>
            <a:r>
              <a:rPr lang="en-US" altLang="ko-KR" sz="1400"/>
              <a:t>      </a:t>
            </a:r>
            <a:r>
              <a:rPr lang="ko-KR" altLang="en-US" sz="1400"/>
              <a:t>페이지 이동만 하는 척하며</a:t>
            </a:r>
            <a:r>
              <a:rPr lang="en-US" altLang="ko-KR" sz="1400"/>
              <a:t>, </a:t>
            </a:r>
            <a:br>
              <a:rPr lang="en-US" altLang="ko-KR" sz="1400"/>
            </a:br>
            <a:r>
              <a:rPr lang="en-US" altLang="ko-KR" sz="1400"/>
              <a:t>      index.html</a:t>
            </a:r>
            <a:r>
              <a:rPr lang="ko-KR" altLang="en-US" sz="1400"/>
              <a:t>에서 </a:t>
            </a:r>
            <a:r>
              <a:rPr lang="en-US" altLang="ko-KR" sz="1400"/>
              <a:t>react</a:t>
            </a:r>
            <a:r>
              <a:rPr lang="ko-KR" altLang="en-US" sz="1400"/>
              <a:t>컴포넌트가 </a:t>
            </a:r>
            <a:br>
              <a:rPr lang="en-US" altLang="ko-KR" sz="1400"/>
            </a:br>
            <a:r>
              <a:rPr lang="en-US" altLang="ko-KR" sz="1400"/>
              <a:t>     </a:t>
            </a:r>
            <a:r>
              <a:rPr lang="ko-KR" altLang="en-US" sz="1400"/>
              <a:t>변경된다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그러나 </a:t>
            </a:r>
            <a:r>
              <a:rPr lang="en-US" altLang="ko-KR" sz="1400"/>
              <a:t>NavLink</a:t>
            </a:r>
            <a:r>
              <a:rPr lang="ko-KR" altLang="en-US" sz="1400"/>
              <a:t>는 현재 브라우저 </a:t>
            </a:r>
            <a:r>
              <a:rPr lang="en-US" altLang="ko-KR" sz="1400"/>
              <a:t>Url </a:t>
            </a:r>
            <a:r>
              <a:rPr lang="ko-KR" altLang="en-US" sz="1400"/>
              <a:t>주소와 랜더링된 </a:t>
            </a:r>
            <a:r>
              <a:rPr lang="en-US" altLang="ko-KR" sz="1400"/>
              <a:t>react </a:t>
            </a:r>
            <a:r>
              <a:rPr lang="ko-KR" altLang="en-US" sz="1400"/>
              <a:t>컴포넌트 내 링크 주소가 동일할 경우 그에 따른 스타일을 링크에 적용할 수 있다는 장점이 있다</a:t>
            </a:r>
            <a:r>
              <a:rPr lang="en-US" altLang="ko-KR" sz="1400"/>
              <a:t>.</a:t>
            </a:r>
            <a:br>
              <a:rPr lang="en-US" altLang="ko-KR" sz="1400"/>
            </a:b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704214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89CB3-7043-9CF6-1001-552CE812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pages/*.tsx </a:t>
            </a:r>
            <a:r>
              <a:rPr lang="ko-KR" altLang="en-US" sz="3600"/>
              <a:t>의 역할 살펴보기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B61DB28-3818-833A-E50F-A61C25621457}"/>
              </a:ext>
            </a:extLst>
          </p:cNvPr>
          <p:cNvGrpSpPr/>
          <p:nvPr/>
        </p:nvGrpSpPr>
        <p:grpSpPr>
          <a:xfrm>
            <a:off x="1097280" y="1970550"/>
            <a:ext cx="3229426" cy="4248743"/>
            <a:chOff x="1097280" y="1970550"/>
            <a:chExt cx="3229426" cy="424874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FC5E155-2026-C440-6B61-9E1F6B3B0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70550"/>
              <a:ext cx="3229426" cy="424874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7807613-C181-FB4A-7E91-12F8DFBDA3B1}"/>
                </a:ext>
              </a:extLst>
            </p:cNvPr>
            <p:cNvSpPr/>
            <p:nvPr/>
          </p:nvSpPr>
          <p:spPr>
            <a:xfrm>
              <a:off x="1779104" y="4343400"/>
              <a:ext cx="1172818" cy="38762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A12E1A8-F734-D41C-B487-5E81A36DAB83}"/>
              </a:ext>
            </a:extLst>
          </p:cNvPr>
          <p:cNvSpPr txBox="1"/>
          <p:nvPr/>
        </p:nvSpPr>
        <p:spPr>
          <a:xfrm>
            <a:off x="4420428" y="1970550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각 페이지에 해당하는 </a:t>
            </a:r>
            <a:r>
              <a:rPr lang="en-US" altLang="ko-KR" sz="1200"/>
              <a:t>React Rendering Component </a:t>
            </a:r>
            <a:r>
              <a:rPr lang="ko-KR" altLang="en-US" sz="1200"/>
              <a:t>가 정의된</a:t>
            </a:r>
            <a:br>
              <a:rPr lang="en-US" altLang="ko-KR" sz="1200"/>
            </a:br>
            <a:r>
              <a:rPr lang="ko-KR" altLang="en-US" sz="1200"/>
              <a:t>페이지이다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E83C0CE-CC2F-5A36-592F-CC0A59B3F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555" y="2616881"/>
            <a:ext cx="3708594" cy="24500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1466C4B-7348-672A-113B-7028002CF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296" y="3644961"/>
            <a:ext cx="4177868" cy="3120507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4F99B21-B135-1D79-BBBF-0BB81FF4B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215" y="199445"/>
            <a:ext cx="4034315" cy="123178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56AC3D-A8A8-0144-BADB-7944D9856D15}"/>
              </a:ext>
            </a:extLst>
          </p:cNvPr>
          <p:cNvSpPr/>
          <p:nvPr/>
        </p:nvSpPr>
        <p:spPr>
          <a:xfrm>
            <a:off x="8696739" y="1560443"/>
            <a:ext cx="3346425" cy="1540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각 페이지 </a:t>
            </a:r>
            <a:r>
              <a:rPr lang="en-US" altLang="ko-KR">
                <a:solidFill>
                  <a:schemeClr val="tx1"/>
                </a:solidFill>
              </a:rPr>
              <a:t>.tsx </a:t>
            </a:r>
            <a:r>
              <a:rPr lang="ko-KR" altLang="en-US">
                <a:solidFill>
                  <a:schemeClr val="tx1"/>
                </a:solidFill>
              </a:rPr>
              <a:t>파일들은 </a:t>
            </a:r>
            <a:r>
              <a:rPr lang="en-US" altLang="ko-KR">
                <a:solidFill>
                  <a:schemeClr val="tx1"/>
                </a:solidFill>
              </a:rPr>
              <a:t>router</a:t>
            </a:r>
            <a:r>
              <a:rPr lang="ko-KR" altLang="en-US">
                <a:solidFill>
                  <a:schemeClr val="tx1"/>
                </a:solidFill>
              </a:rPr>
              <a:t>에 의해 컴포넌트들이 랜더링 된다</a:t>
            </a:r>
            <a:r>
              <a:rPr lang="en-US" altLang="ko-KR">
                <a:solidFill>
                  <a:schemeClr val="tx1"/>
                </a:solidFill>
              </a:rPr>
              <a:t>.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20414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139</TotalTime>
  <Words>376</Words>
  <Application>Microsoft Office PowerPoint</Application>
  <PresentationFormat>와이드스크린</PresentationFormat>
  <Paragraphs>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Wingdings</vt:lpstr>
      <vt:lpstr>추억</vt:lpstr>
      <vt:lpstr>React-Router 실행</vt:lpstr>
      <vt:lpstr>ch2 프로젝트 생성</vt:lpstr>
      <vt:lpstr>tailwindcss 설치</vt:lpstr>
      <vt:lpstr>index.css설정</vt:lpstr>
      <vt:lpstr>vite.config.ts 설정</vt:lpstr>
      <vt:lpstr>React-Router 설치</vt:lpstr>
      <vt:lpstr>의존성 확인</vt:lpstr>
      <vt:lpstr>React 개념 알기</vt:lpstr>
      <vt:lpstr>React의 시작 main.tsx 살펴보기</vt:lpstr>
      <vt:lpstr>router 파일의 역할.</vt:lpstr>
      <vt:lpstr>브라우저 이동을 처리를 위한 링크(Link, NavLink)</vt:lpstr>
      <vt:lpstr>pages/*.tsx 의 역할 살펴보기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17</cp:revision>
  <dcterms:created xsi:type="dcterms:W3CDTF">2026-09-16T12:55:51Z</dcterms:created>
  <dcterms:modified xsi:type="dcterms:W3CDTF">2026-09-16T15:14:57Z</dcterms:modified>
</cp:coreProperties>
</file>